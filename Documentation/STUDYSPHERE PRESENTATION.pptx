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80" r:id="rId17"/>
    <p:sldId id="274" r:id="rId18"/>
    <p:sldId id="275" r:id="rId19"/>
    <p:sldId id="276" r:id="rId20"/>
    <p:sldId id="277" r:id="rId21"/>
    <p:sldId id="278" r:id="rId22"/>
    <p:sldId id="279" r:id="rId23"/>
    <p:sldId id="265" r:id="rId24"/>
    <p:sldId id="264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0C0AB869-2C35-47C9-994D-6DB013C15C4C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6"/>
            <p14:sldId id="267"/>
            <p14:sldId id="268"/>
            <p14:sldId id="269"/>
            <p14:sldId id="270"/>
            <p14:sldId id="271"/>
            <p14:sldId id="272"/>
            <p14:sldId id="280"/>
            <p14:sldId id="274"/>
            <p14:sldId id="275"/>
            <p14:sldId id="276"/>
            <p14:sldId id="277"/>
            <p14:sldId id="278"/>
            <p14:sldId id="279"/>
            <p14:sldId id="265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5033" autoAdjust="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11D618-50D4-4431-B004-7B977B9145BC}" type="datetimeFigureOut">
              <a:rPr lang="en-US" smtClean="0"/>
              <a:t>17-Dec-25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605F7F-4FE1-44DB-8094-874F95B3D7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17750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605F7F-4FE1-44DB-8094-874F95B3D78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4028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F320C-4D7B-45AB-BDAB-C86DD9B8119F}" type="datetimeFigureOut">
              <a:rPr lang="en-US" smtClean="0"/>
              <a:t>17-Dec-25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B5BAB34F-FDA7-4A8E-8150-214F477022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58860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F320C-4D7B-45AB-BDAB-C86DD9B8119F}" type="datetimeFigureOut">
              <a:rPr lang="en-US" smtClean="0"/>
              <a:t>17-Dec-25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AB34F-FDA7-4A8E-8150-214F477022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5160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F320C-4D7B-45AB-BDAB-C86DD9B8119F}" type="datetimeFigureOut">
              <a:rPr lang="en-US" smtClean="0"/>
              <a:t>17-Dec-25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B5BAB34F-FDA7-4A8E-8150-214F477022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3931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F320C-4D7B-45AB-BDAB-C86DD9B8119F}" type="datetimeFigureOut">
              <a:rPr lang="en-US" smtClean="0"/>
              <a:t>17-Dec-25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B5BAB34F-FDA7-4A8E-8150-214F477022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93635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F320C-4D7B-45AB-BDAB-C86DD9B8119F}" type="datetimeFigureOut">
              <a:rPr lang="en-US" smtClean="0"/>
              <a:t>17-Dec-25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B5BAB34F-FDA7-4A8E-8150-214F477022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018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F320C-4D7B-45AB-BDAB-C86DD9B8119F}" type="datetimeFigureOut">
              <a:rPr lang="en-US" smtClean="0"/>
              <a:t>17-Dec-25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AB34F-FDA7-4A8E-8150-214F477022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0783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F320C-4D7B-45AB-BDAB-C86DD9B8119F}" type="datetimeFigureOut">
              <a:rPr lang="en-US" smtClean="0"/>
              <a:t>17-Dec-25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AB34F-FDA7-4A8E-8150-214F477022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80773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F320C-4D7B-45AB-BDAB-C86DD9B8119F}" type="datetimeFigureOut">
              <a:rPr lang="en-US" smtClean="0"/>
              <a:t>17-Dec-25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AB34F-FDA7-4A8E-8150-214F477022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9181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F320C-4D7B-45AB-BDAB-C86DD9B8119F}" type="datetimeFigureOut">
              <a:rPr lang="en-US" smtClean="0"/>
              <a:t>17-Dec-25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B5BAB34F-FDA7-4A8E-8150-214F477022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77543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F320C-4D7B-45AB-BDAB-C86DD9B8119F}" type="datetimeFigureOut">
              <a:rPr lang="en-US" smtClean="0"/>
              <a:t>17-Dec-25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B5BAB34F-FDA7-4A8E-8150-214F477022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7144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F320C-4D7B-45AB-BDAB-C86DD9B8119F}" type="datetimeFigureOut">
              <a:rPr lang="en-US" smtClean="0"/>
              <a:t>17-Dec-25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B5BAB34F-FDA7-4A8E-8150-214F47702204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968801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F320C-4D7B-45AB-BDAB-C86DD9B8119F}" type="datetimeFigureOut">
              <a:rPr lang="en-US" smtClean="0"/>
              <a:t>17-Dec-25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B5BAB34F-FDA7-4A8E-8150-214F477022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26891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F320C-4D7B-45AB-BDAB-C86DD9B8119F}" type="datetimeFigureOut">
              <a:rPr lang="en-US" smtClean="0"/>
              <a:t>17-Dec-25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B5BAB34F-FDA7-4A8E-8150-214F47702204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739431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F320C-4D7B-45AB-BDAB-C86DD9B8119F}" type="datetimeFigureOut">
              <a:rPr lang="en-US" smtClean="0"/>
              <a:t>17-Dec-25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B5BAB34F-FDA7-4A8E-8150-214F477022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6510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F320C-4D7B-45AB-BDAB-C86DD9B8119F}" type="datetimeFigureOut">
              <a:rPr lang="en-US" smtClean="0"/>
              <a:t>17-Dec-25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AB34F-FDA7-4A8E-8150-214F477022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81232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F320C-4D7B-45AB-BDAB-C86DD9B8119F}" type="datetimeFigureOut">
              <a:rPr lang="en-US" smtClean="0"/>
              <a:t>17-Dec-25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AB34F-FDA7-4A8E-8150-214F477022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38377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CF320C-4D7B-45AB-BDAB-C86DD9B8119F}" type="datetimeFigureOut">
              <a:rPr lang="en-US" smtClean="0"/>
              <a:t>17-Dec-25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B5BAB34F-FDA7-4A8E-8150-214F477022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59384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Horizontal Scroll 1">
            <a:extLst>
              <a:ext uri="{FF2B5EF4-FFF2-40B4-BE49-F238E27FC236}">
                <a16:creationId xmlns:a16="http://schemas.microsoft.com/office/drawing/2014/main" id="{C539793D-94F3-3E61-63F1-470326354044}"/>
              </a:ext>
            </a:extLst>
          </p:cNvPr>
          <p:cNvSpPr/>
          <p:nvPr/>
        </p:nvSpPr>
        <p:spPr>
          <a:xfrm>
            <a:off x="1475658" y="711486"/>
            <a:ext cx="9836355" cy="5435027"/>
          </a:xfrm>
          <a:prstGeom prst="horizontalScroll">
            <a:avLst/>
          </a:prstGeom>
          <a:solidFill>
            <a:schemeClr val="tx2">
              <a:lumMod val="50000"/>
              <a:lumOff val="50000"/>
            </a:schemeClr>
          </a:solidFill>
          <a:ln w="57150">
            <a:solidFill>
              <a:srgbClr val="C00000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Name: Ghinaiya Deep </a:t>
            </a:r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Amulbhai</a:t>
            </a: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Class: MCA-I 			Div: A (5119)</a:t>
            </a:r>
          </a:p>
          <a:p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Roll No: WD03</a:t>
            </a:r>
          </a:p>
          <a:p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Subject: MPR541MRP- Mini Project</a:t>
            </a:r>
          </a:p>
          <a:p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Project Title: </a:t>
            </a:r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StudySphere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Student Learning 										Platform</a:t>
            </a:r>
          </a:p>
        </p:txBody>
      </p:sp>
    </p:spTree>
    <p:extLst>
      <p:ext uri="{BB962C8B-B14F-4D97-AF65-F5344CB8AC3E}">
        <p14:creationId xmlns:p14="http://schemas.microsoft.com/office/powerpoint/2010/main" val="9172093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3F555A-AF7B-EF75-3B73-82543AAE2E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Horizontal Scroll 1">
            <a:extLst>
              <a:ext uri="{FF2B5EF4-FFF2-40B4-BE49-F238E27FC236}">
                <a16:creationId xmlns:a16="http://schemas.microsoft.com/office/drawing/2014/main" id="{9DE44BC5-B185-52DB-EE63-5EABB1955B00}"/>
              </a:ext>
            </a:extLst>
          </p:cNvPr>
          <p:cNvSpPr/>
          <p:nvPr/>
        </p:nvSpPr>
        <p:spPr>
          <a:xfrm>
            <a:off x="1485490" y="711486"/>
            <a:ext cx="9836355" cy="5435027"/>
          </a:xfrm>
          <a:prstGeom prst="horizontalScroll">
            <a:avLst/>
          </a:prstGeom>
          <a:solidFill>
            <a:schemeClr val="tx2">
              <a:lumMod val="50000"/>
              <a:lumOff val="50000"/>
            </a:schemeClr>
          </a:solidFill>
          <a:ln w="57150">
            <a:solidFill>
              <a:srgbClr val="C00000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5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Title:</a:t>
            </a:r>
          </a:p>
          <a:p>
            <a:pPr algn="ctr"/>
            <a:endParaRPr lang="en-US" sz="22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800" b="1" i="1" dirty="0" err="1">
                <a:latin typeface="Algerian" panose="04020705040A02060702" pitchFamily="82" charset="0"/>
              </a:rPr>
              <a:t>StudySphere</a:t>
            </a:r>
            <a:r>
              <a:rPr lang="en-US" sz="2800" b="1" i="1" dirty="0">
                <a:latin typeface="Algerian" panose="04020705040A02060702" pitchFamily="82" charset="0"/>
              </a:rPr>
              <a:t>: Student Learning Platform</a:t>
            </a:r>
          </a:p>
          <a:p>
            <a:pPr algn="ctr"/>
            <a:r>
              <a:rPr lang="en-US" sz="1500" b="1" i="1" dirty="0">
                <a:latin typeface="Algerian" panose="04020705040A02060702" pitchFamily="82" charset="0"/>
                <a:cs typeface="Times New Roman" panose="02020603050405020304" pitchFamily="18" charset="0"/>
              </a:rPr>
              <a:t>Explore the best resources for your learning journey</a:t>
            </a:r>
            <a:endParaRPr lang="en-US" sz="1500" b="1" i="1" dirty="0">
              <a:latin typeface="Algerian" panose="04020705040A02060702" pitchFamily="82" charset="0"/>
            </a:endParaRPr>
          </a:p>
          <a:p>
            <a:pPr algn="ctr"/>
            <a:endParaRPr lang="en-US" sz="22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22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2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DB20C0C-EF4F-11A0-3F62-C303DBBA78B7}"/>
              </a:ext>
            </a:extLst>
          </p:cNvPr>
          <p:cNvSpPr txBox="1"/>
          <p:nvPr/>
        </p:nvSpPr>
        <p:spPr>
          <a:xfrm>
            <a:off x="5565058" y="1960062"/>
            <a:ext cx="4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1466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233B945-7A57-B0EB-AC0A-FCFE63ACE021}"/>
              </a:ext>
            </a:extLst>
          </p:cNvPr>
          <p:cNvSpPr txBox="1"/>
          <p:nvPr/>
        </p:nvSpPr>
        <p:spPr>
          <a:xfrm>
            <a:off x="5209531" y="540774"/>
            <a:ext cx="238398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>
                <a:latin typeface="Algerian" panose="04020705040A02060702" pitchFamily="82" charset="0"/>
              </a:rPr>
              <a:t>Abstract:</a:t>
            </a:r>
            <a:endParaRPr lang="en-US" sz="32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2980EB-28B9-1054-F2FF-F2D42AA3B7ED}"/>
              </a:ext>
            </a:extLst>
          </p:cNvPr>
          <p:cNvSpPr txBox="1"/>
          <p:nvPr/>
        </p:nvSpPr>
        <p:spPr>
          <a:xfrm>
            <a:off x="5456903" y="285135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7A3900B-2ED2-E7BF-2AE4-42B58F9DE85C}"/>
              </a:ext>
            </a:extLst>
          </p:cNvPr>
          <p:cNvSpPr txBox="1"/>
          <p:nvPr/>
        </p:nvSpPr>
        <p:spPr>
          <a:xfrm>
            <a:off x="2281808" y="1461218"/>
            <a:ext cx="823943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StudySphere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web-based online study portal developed using the Django framework of Python. It provides students with a centralized platform to manage their study activities efficiently. The system includes features like Notes, Homework, To-Do List, Books, Dictionary, Wikipedia, YouTube integration, and Conversion tools.</a:t>
            </a:r>
          </a:p>
          <a:p>
            <a:pPr algn="just"/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main aim of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StudySphere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to enhance students’ productivity and make their learning experience more organized, interactive, and accessible from one place. Basically, it is a centralized hub for students to access various educational resources.</a:t>
            </a:r>
          </a:p>
        </p:txBody>
      </p:sp>
    </p:spTree>
    <p:extLst>
      <p:ext uri="{BB962C8B-B14F-4D97-AF65-F5344CB8AC3E}">
        <p14:creationId xmlns:p14="http://schemas.microsoft.com/office/powerpoint/2010/main" val="12216977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235238-EAF2-2DBF-42FC-C67D682686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F34884D-084E-ADC0-DDB0-3E3B3D4A85AC}"/>
              </a:ext>
            </a:extLst>
          </p:cNvPr>
          <p:cNvSpPr txBox="1"/>
          <p:nvPr/>
        </p:nvSpPr>
        <p:spPr>
          <a:xfrm>
            <a:off x="4944234" y="540774"/>
            <a:ext cx="29145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>
                <a:latin typeface="Algerian" panose="04020705040A02060702" pitchFamily="82" charset="0"/>
              </a:rPr>
              <a:t>Introduction</a:t>
            </a:r>
            <a:endParaRPr lang="en-US" sz="32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8D7554-DCF7-6897-FC0A-6D120CFBCEE9}"/>
              </a:ext>
            </a:extLst>
          </p:cNvPr>
          <p:cNvSpPr txBox="1"/>
          <p:nvPr/>
        </p:nvSpPr>
        <p:spPr>
          <a:xfrm>
            <a:off x="5456903" y="285135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95FD284-942C-DCF9-C233-5730870E5578}"/>
              </a:ext>
            </a:extLst>
          </p:cNvPr>
          <p:cNvSpPr txBox="1"/>
          <p:nvPr/>
        </p:nvSpPr>
        <p:spPr>
          <a:xfrm>
            <a:off x="1534918" y="1238913"/>
            <a:ext cx="9910192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StudySphere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an educational web platform designed to simplify and improve the way students handle their academic tasks. Built using the Django framework, it focuses on providing all essential study tools under a single portal.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can take notes, manage homework, set tasks, and access educational content like books, videos, and dictionaries without switching between different platforms. Its clean and user-friendly interface ensures that students of any level can use it easily.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platform offers eight key features: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Notes</a:t>
            </a:r>
          </a:p>
          <a:p>
            <a:pPr marL="285750" lvl="0" indent="-285750" algn="just">
              <a:buFont typeface="Wingdings" panose="05000000000000000000" pitchFamily="2" charset="2"/>
              <a:buChar char="q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Homework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buFont typeface="Wingdings" panose="05000000000000000000" pitchFamily="2" charset="2"/>
              <a:buChar char="q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YouTube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buFont typeface="Wingdings" panose="05000000000000000000" pitchFamily="2" charset="2"/>
              <a:buChar char="q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To-Do List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buFont typeface="Wingdings" panose="05000000000000000000" pitchFamily="2" charset="2"/>
              <a:buChar char="q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Books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buFont typeface="Wingdings" panose="05000000000000000000" pitchFamily="2" charset="2"/>
              <a:buChar char="q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Dictionary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buFont typeface="Wingdings" panose="05000000000000000000" pitchFamily="2" charset="2"/>
              <a:buChar char="q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Wikipedia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buFont typeface="Wingdings" panose="05000000000000000000" pitchFamily="2" charset="2"/>
              <a:buChar char="q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Conversions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43357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F57C92-259C-1D67-3E09-5F12DE0D6F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3842FCF-96BE-5E8A-51E7-76FC4913A55F}"/>
              </a:ext>
            </a:extLst>
          </p:cNvPr>
          <p:cNvSpPr txBox="1"/>
          <p:nvPr/>
        </p:nvSpPr>
        <p:spPr>
          <a:xfrm>
            <a:off x="4308644" y="540774"/>
            <a:ext cx="418576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>
                <a:latin typeface="Algerian" panose="04020705040A02060702" pitchFamily="82" charset="0"/>
              </a:rPr>
              <a:t>Problem Definition</a:t>
            </a:r>
            <a:endParaRPr lang="en-US" sz="32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9D2384F-453C-754D-FF07-96CC0D245B75}"/>
              </a:ext>
            </a:extLst>
          </p:cNvPr>
          <p:cNvSpPr txBox="1"/>
          <p:nvPr/>
        </p:nvSpPr>
        <p:spPr>
          <a:xfrm>
            <a:off x="5456903" y="285135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E145BA-09DB-BC33-DA69-8098A67B9F17}"/>
              </a:ext>
            </a:extLst>
          </p:cNvPr>
          <p:cNvSpPr txBox="1"/>
          <p:nvPr/>
        </p:nvSpPr>
        <p:spPr>
          <a:xfrm>
            <a:off x="1554583" y="1512527"/>
            <a:ext cx="9910192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struggle to keep their study materials, notes, and assignments organized, often leading to wasted time searching for resources.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existing educational tools focus on only one aspect (like note-taking or homework tracking) and fail to provide an integrated solution.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centralized access to all learning materials causes students to miss deadlines or overlook important topics.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tracking of homework and tasks increases the risk of incomplete assignments and poor academic performance.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Collaboration and sharing among peers is limited in traditional systems, reducing the opportunity for collective learning.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often use multiple apps and platforms, which can be confusing and inefficient, leading to fragmented learning experiences.</a:t>
            </a:r>
          </a:p>
        </p:txBody>
      </p:sp>
    </p:spTree>
    <p:extLst>
      <p:ext uri="{BB962C8B-B14F-4D97-AF65-F5344CB8AC3E}">
        <p14:creationId xmlns:p14="http://schemas.microsoft.com/office/powerpoint/2010/main" val="26670177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759AAB-B8F0-3CF1-411B-438C3535A1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9BDD070-AA34-5B1F-97DE-FA85D30E00F2}"/>
              </a:ext>
            </a:extLst>
          </p:cNvPr>
          <p:cNvSpPr txBox="1"/>
          <p:nvPr/>
        </p:nvSpPr>
        <p:spPr>
          <a:xfrm>
            <a:off x="4230097" y="540774"/>
            <a:ext cx="43428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>
                <a:latin typeface="Algerian" panose="04020705040A02060702" pitchFamily="82" charset="0"/>
              </a:rPr>
              <a:t> Need of the System</a:t>
            </a:r>
            <a:endParaRPr lang="en-US" sz="32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D68F57-7C0E-4FD9-81F0-8A4314C6675A}"/>
              </a:ext>
            </a:extLst>
          </p:cNvPr>
          <p:cNvSpPr txBox="1"/>
          <p:nvPr/>
        </p:nvSpPr>
        <p:spPr>
          <a:xfrm>
            <a:off x="5456903" y="285135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9F3B28-2636-8E3B-E8E5-CBC8AE61EBCC}"/>
              </a:ext>
            </a:extLst>
          </p:cNvPr>
          <p:cNvSpPr txBox="1"/>
          <p:nvPr/>
        </p:nvSpPr>
        <p:spPr>
          <a:xfrm>
            <a:off x="1741396" y="1558693"/>
            <a:ext cx="9910192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enhance students’ productivity by providing a structured and distraction-free environment for learning.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allow students to track homework, assignments, and deadlines in one centralized dashboard.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simplify the process of creating, editing, and organizing digital notes for different subjects.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improve collaboration by allowing students to share notes and resources securely.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ensure data privacy and protect study materials from unauthorized access.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provide reminders and notifications for upcoming tasks or exams.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create a user-friendly interface that makes navigation and management easy for all users.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enable cloud-based storage so students can access their data across multiple devices.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reduce dependency on paper-based notes, promoting eco-friendly learning.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continuously improve learning habits through progress tracking and analytics.</a:t>
            </a:r>
          </a:p>
        </p:txBody>
      </p:sp>
    </p:spTree>
    <p:extLst>
      <p:ext uri="{BB962C8B-B14F-4D97-AF65-F5344CB8AC3E}">
        <p14:creationId xmlns:p14="http://schemas.microsoft.com/office/powerpoint/2010/main" val="34941433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9A5C3B-1664-82FC-FBE3-38B1836ECD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374918C-6B87-B04A-14B8-19733C5AB0BE}"/>
              </a:ext>
            </a:extLst>
          </p:cNvPr>
          <p:cNvSpPr txBox="1"/>
          <p:nvPr/>
        </p:nvSpPr>
        <p:spPr>
          <a:xfrm>
            <a:off x="5146213" y="540774"/>
            <a:ext cx="251062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>
                <a:latin typeface="Algerian" panose="04020705040A02060702" pitchFamily="82" charset="0"/>
              </a:rPr>
              <a:t>Objectives</a:t>
            </a:r>
            <a:endParaRPr lang="en-US" sz="32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CBF769-C843-E89B-4563-EA0C95A0ADE8}"/>
              </a:ext>
            </a:extLst>
          </p:cNvPr>
          <p:cNvSpPr txBox="1"/>
          <p:nvPr/>
        </p:nvSpPr>
        <p:spPr>
          <a:xfrm>
            <a:off x="5456903" y="285135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A7AE47C-ACC1-D8C4-48A8-45EE1A4346B7}"/>
              </a:ext>
            </a:extLst>
          </p:cNvPr>
          <p:cNvSpPr txBox="1"/>
          <p:nvPr/>
        </p:nvSpPr>
        <p:spPr>
          <a:xfrm>
            <a:off x="1672571" y="1371355"/>
            <a:ext cx="9910192" cy="46474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Centralized Study Platform: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provide students with one platform where they can manage all study-related tasks like notes, homework, and to-do lists.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 Student Productivity: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students stay organized, manage time better, and complete tasks without missing deadlines.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User-Friendly Interface: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with a simple and clean layout so students can easily navigate and use all features without confusion.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of Study Tools: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Combines multiple learning tools such as YouTube, Dictionary, Wikipedia, and Conversions into a single platform.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Access to Resources: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quick and easy access to study materials, books, and videos anytime and anywhere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for Online Learning: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Encourages digital and remote learning by providing a web-based study solution accessible from any device.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Task Management: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students to track homework, create to-do lists, and manage academic goals effectively.</a:t>
            </a:r>
          </a:p>
        </p:txBody>
      </p:sp>
    </p:spTree>
    <p:extLst>
      <p:ext uri="{BB962C8B-B14F-4D97-AF65-F5344CB8AC3E}">
        <p14:creationId xmlns:p14="http://schemas.microsoft.com/office/powerpoint/2010/main" val="39005443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7FD71B-37FC-BEA1-F5AB-54A1802026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737C253-0AFD-5C59-766C-2990C2EF12A8}"/>
              </a:ext>
            </a:extLst>
          </p:cNvPr>
          <p:cNvSpPr txBox="1"/>
          <p:nvPr/>
        </p:nvSpPr>
        <p:spPr>
          <a:xfrm>
            <a:off x="4076209" y="265471"/>
            <a:ext cx="465063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>
                <a:latin typeface="Algerian" panose="04020705040A02060702" pitchFamily="82" charset="0"/>
              </a:rPr>
              <a:t>Scope of the Project</a:t>
            </a:r>
            <a:endParaRPr lang="en-US" sz="32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E73761-D596-3FA0-363F-EF89DF455447}"/>
              </a:ext>
            </a:extLst>
          </p:cNvPr>
          <p:cNvSpPr txBox="1"/>
          <p:nvPr/>
        </p:nvSpPr>
        <p:spPr>
          <a:xfrm>
            <a:off x="5456903" y="285135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DA505A3-41D4-54A7-0238-F941CA3980CF}"/>
              </a:ext>
            </a:extLst>
          </p:cNvPr>
          <p:cNvSpPr txBox="1"/>
          <p:nvPr/>
        </p:nvSpPr>
        <p:spPr>
          <a:xfrm>
            <a:off x="1770893" y="1076388"/>
            <a:ext cx="9910192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Student-Centered Platform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especially for students at different academic levels.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All-in-One Study System</a:t>
            </a:r>
          </a:p>
          <a:p>
            <a:pPr lvl="1"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Combines features like Notes, Homework, To-Do List, Books, YouTube, Dictionary, Wikipedia, and Conversions.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Web-Based Access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be used on desktops, laptops, tablets, and mobile devices anytime, anywhere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User-Friendly Interface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design that makes learning and navigation easy for all users.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and Reliable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secure login and data protection to keep student information safe.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Focused on Students Only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teacher or admin access — fully designed for students to manage their study work.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 Learning Support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Encourages online and self-paced learning through easy access to study materials.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Maintenance</a:t>
            </a:r>
          </a:p>
          <a:p>
            <a:pPr lvl="1"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is designed to be easily updated and maintained over time.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Enhancements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Plans to add AI-based suggestions, gamification, and mobile app integration for better learning experience.</a:t>
            </a:r>
          </a:p>
        </p:txBody>
      </p:sp>
    </p:spTree>
    <p:extLst>
      <p:ext uri="{BB962C8B-B14F-4D97-AF65-F5344CB8AC3E}">
        <p14:creationId xmlns:p14="http://schemas.microsoft.com/office/powerpoint/2010/main" val="32165806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D0B20A-CF37-F39E-D6F7-3248248CA7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7813D3E-078D-3440-670D-ED1AE725D549}"/>
              </a:ext>
            </a:extLst>
          </p:cNvPr>
          <p:cNvSpPr txBox="1"/>
          <p:nvPr/>
        </p:nvSpPr>
        <p:spPr>
          <a:xfrm>
            <a:off x="1744797" y="948690"/>
            <a:ext cx="10339048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Requirements:</a:t>
            </a: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Operating System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Windows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10/11,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macOS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Linux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Browser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Chrome, Firefox, or Edge for testing and debugging the web application.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Tools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Visual Studio Code.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Management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SQLite.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Version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Python 3.x (preferably 3.10 or higher) for Django development.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Django Framework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Latest stable version of the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Django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web framework.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 Development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HTML5, CSS3, and JavaScript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Bootstrap for front-end web development.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Package Management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pip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managing Python dependencies.</a:t>
            </a:r>
          </a:p>
          <a:p>
            <a:pPr>
              <a:buFont typeface="Wingdings" panose="05000000000000000000" pitchFamily="2" charset="2"/>
              <a:buChar char="q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Requirements:</a:t>
            </a: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Processor: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Minimum: Intel i5 / Ryzen 5 | Recommended: Intel i7 / Ryzen 7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RAM: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Minimum 8GB | Recommended 16GB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Minimum 100GB | Recommended SSD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Graphics: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Integrated graphics (sufficient) | Dedicated GPU optional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Internet: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Stable broadband connection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Minimum 13" FHD (1920×1080) | Recommended 15"+ screens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2F966D2-71DC-DC62-8EC1-E1E03CD690E7}"/>
              </a:ext>
            </a:extLst>
          </p:cNvPr>
          <p:cNvSpPr txBox="1"/>
          <p:nvPr/>
        </p:nvSpPr>
        <p:spPr>
          <a:xfrm>
            <a:off x="2233559" y="265471"/>
            <a:ext cx="83359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>
                <a:latin typeface="Algerian" panose="04020705040A02060702" pitchFamily="82" charset="0"/>
              </a:rPr>
              <a:t>Hardware and software requirement</a:t>
            </a: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36112508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A3C1DA-E7A9-A17D-F2EC-7502406FF5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832DA57-8605-EB12-1518-60FDCE65CAC1}"/>
              </a:ext>
            </a:extLst>
          </p:cNvPr>
          <p:cNvSpPr txBox="1"/>
          <p:nvPr/>
        </p:nvSpPr>
        <p:spPr>
          <a:xfrm>
            <a:off x="5456903" y="285135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FCFE5D9-A18C-86AB-1758-810771439A59}"/>
              </a:ext>
            </a:extLst>
          </p:cNvPr>
          <p:cNvSpPr txBox="1"/>
          <p:nvPr/>
        </p:nvSpPr>
        <p:spPr>
          <a:xfrm>
            <a:off x="3354859" y="265471"/>
            <a:ext cx="60933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>
                <a:latin typeface="Algerian" panose="04020705040A02060702" pitchFamily="82" charset="0"/>
              </a:rPr>
              <a:t>Project Module Description</a:t>
            </a:r>
            <a:endParaRPr lang="en-US" sz="32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DD0BEF1-7891-20BE-7391-FC1F9230B695}"/>
              </a:ext>
            </a:extLst>
          </p:cNvPr>
          <p:cNvSpPr txBox="1"/>
          <p:nvPr/>
        </p:nvSpPr>
        <p:spPr>
          <a:xfrm>
            <a:off x="2251586" y="1277974"/>
            <a:ext cx="8721213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AutoNum type="arabicPeriod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Notes Management Module:</a:t>
            </a:r>
          </a:p>
          <a:p>
            <a:pPr marL="457200" indent="-457200">
              <a:buAutoNum type="arabicPeriod"/>
            </a:pP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This module allows students to manage, view, academic notes uploaded by the admin.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Features:</a:t>
            </a:r>
            <a:endParaRPr lang="en-IN" sz="16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can view a list of notes categorized by subjects or topics.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Download notes for offline access.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Option for admin to upload new notes or update existing ones.</a:t>
            </a:r>
          </a:p>
          <a:p>
            <a:pPr marL="457200" lvl="1" indent="0">
              <a:buNone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Homework Management Module:</a:t>
            </a:r>
          </a:p>
          <a:p>
            <a:pPr marL="0" indent="0">
              <a:buNone/>
            </a:pP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Purpose: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This module enables students to receive and manage homework assignments.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Key Features:</a:t>
            </a:r>
            <a:endParaRPr lang="en-IN" sz="16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can create and assign homework tasks with due dates.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can view the assigned homework and its deadline.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Option for students to mark homework as completed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69323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FBF38D-1386-DC9E-2477-3DC275A39F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881DDC6-F768-6281-2740-62945DD68C32}"/>
              </a:ext>
            </a:extLst>
          </p:cNvPr>
          <p:cNvSpPr txBox="1"/>
          <p:nvPr/>
        </p:nvSpPr>
        <p:spPr>
          <a:xfrm>
            <a:off x="5456903" y="285135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71838E-7DDC-B676-C305-5170E1BD001B}"/>
              </a:ext>
            </a:extLst>
          </p:cNvPr>
          <p:cNvSpPr txBox="1"/>
          <p:nvPr/>
        </p:nvSpPr>
        <p:spPr>
          <a:xfrm>
            <a:off x="2448231" y="1004695"/>
            <a:ext cx="8426245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YouTube Integration Module:</a:t>
            </a:r>
          </a:p>
          <a:p>
            <a:pPr marL="0" indent="0">
              <a:buNone/>
            </a:pP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lvl="0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This module allows students to access educational YouTube videos directly from 				the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StudySphere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platform.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Features:</a:t>
            </a:r>
            <a:endParaRPr lang="en-IN" sz="16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can view these videos within the platform.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Option to search and filter videos by subject or topic.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Video recommendations based on students' interests and subjects.</a:t>
            </a:r>
          </a:p>
          <a:p>
            <a:pPr marL="457200" lvl="1" indent="0">
              <a:buNone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To-Do List Module:</a:t>
            </a:r>
          </a:p>
          <a:p>
            <a:pPr marL="0" indent="0">
              <a:buNone/>
            </a:pP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buNone/>
            </a:pPr>
            <a:r>
              <a:rPr lang="en-US" sz="1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Purpose: </a:t>
            </a:r>
          </a:p>
          <a:p>
            <a:pPr marL="0" lvl="0" indent="0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To-Do List module helps students organize their daily tasks and study goals.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Features:</a:t>
            </a:r>
            <a:endParaRPr lang="en-IN" sz="16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can add tasks with descriptions, deadlines, and priorities.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platform allows students to mark tasks as completed or pending.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Option to categorize tasks into different categories (e.g., homework, study, personal).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24046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AD34F4-6C6A-A0C4-020B-70963BD406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2EA37AB-3508-F55E-0EF3-552260975480}"/>
              </a:ext>
            </a:extLst>
          </p:cNvPr>
          <p:cNvSpPr txBox="1"/>
          <p:nvPr/>
        </p:nvSpPr>
        <p:spPr>
          <a:xfrm>
            <a:off x="5456903" y="285135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48E04EF-4D0A-9B09-C08F-CA0BD0C2FE58}"/>
              </a:ext>
            </a:extLst>
          </p:cNvPr>
          <p:cNvSpPr txBox="1"/>
          <p:nvPr/>
        </p:nvSpPr>
        <p:spPr>
          <a:xfrm>
            <a:off x="2467895" y="240804"/>
            <a:ext cx="7639665" cy="68634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Books Module:</a:t>
            </a:r>
          </a:p>
          <a:p>
            <a:pPr marL="0" indent="0">
              <a:buNone/>
            </a:pP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marL="0" lv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This module offers students access to a library of recommended books, both 			online and offline.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buNone/>
            </a:pPr>
            <a:r>
              <a:rPr lang="en-US" sz="1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Key Features: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can search for books based on titles, authors, or subjects.</a:t>
            </a:r>
          </a:p>
          <a:p>
            <a:pPr marL="457200" lvl="1" indent="0">
              <a:buNone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Dictionary Module:</a:t>
            </a:r>
          </a:p>
          <a:p>
            <a:pPr marL="0" indent="0">
              <a:buNone/>
            </a:pP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 </a:t>
            </a:r>
          </a:p>
          <a:p>
            <a:pPr marL="0" lvl="0" indent="0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Dictionary module provides students with a quick and easy way to 				look up word definitions and meanings.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Features:</a:t>
            </a:r>
            <a:endParaRPr lang="en-IN" sz="16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Option to search for definitions, synonyms, and antonyms.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Audio pronunciation for better learning.</a:t>
            </a:r>
          </a:p>
          <a:p>
            <a:pPr lvl="2"/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Wikipedia Integration Module:</a:t>
            </a: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Purpose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lvl="0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This module allows students to access Wikipedia articles on various topics 			directly from the platform.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Key Features: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can search for articles or browse a list of curated topics.</a:t>
            </a:r>
          </a:p>
          <a:p>
            <a:pPr lvl="2"/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50583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6868A7-5E26-77B6-79C9-020185B9EC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B820777-6885-F22A-3A34-7A840665CB0B}"/>
              </a:ext>
            </a:extLst>
          </p:cNvPr>
          <p:cNvSpPr txBox="1"/>
          <p:nvPr/>
        </p:nvSpPr>
        <p:spPr>
          <a:xfrm>
            <a:off x="5456903" y="285135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873F40-F2F4-E7A9-7656-36E4A492833D}"/>
              </a:ext>
            </a:extLst>
          </p:cNvPr>
          <p:cNvSpPr txBox="1"/>
          <p:nvPr/>
        </p:nvSpPr>
        <p:spPr>
          <a:xfrm>
            <a:off x="2576051" y="696919"/>
            <a:ext cx="8819535" cy="5047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 indent="0"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 Conversions Module:</a:t>
            </a:r>
          </a:p>
          <a:p>
            <a:pPr marL="0" indent="0">
              <a:buNone/>
            </a:pP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>
              <a:buNone/>
            </a:pPr>
            <a:r>
              <a:rPr lang="en-US" sz="1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Purpose: </a:t>
            </a:r>
          </a:p>
          <a:p>
            <a:pPr marL="0" lvl="0" indent="0" algn="just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Conversions module helps students perform various unit conversions, such as currency, 		measurements, temperature, etc.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>
              <a:buNone/>
            </a:pPr>
            <a:r>
              <a:rPr lang="en-US" sz="1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Key Features:</a:t>
            </a:r>
            <a:endParaRPr lang="en-IN" sz="16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0150" lvl="2" indent="-285750" algn="just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platform will display the converted results instantly.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0150" lvl="2" indent="-285750" algn="just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Option to select units for conversion (e.g., pounds to kilograms, Celsius to Fahrenheit).</a:t>
            </a:r>
          </a:p>
          <a:p>
            <a:pPr marL="457200" lvl="1" indent="0" algn="just">
              <a:buNone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9.User Authentication and Profile Module:</a:t>
            </a:r>
          </a:p>
          <a:p>
            <a:pPr marL="0" indent="0">
              <a:buNone/>
            </a:pP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>
              <a:buNone/>
            </a:pPr>
            <a:r>
              <a:rPr lang="en-US" sz="1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Purpose: </a:t>
            </a:r>
          </a:p>
          <a:p>
            <a:pPr marL="0" lvl="0" indent="0" algn="just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module handles student authentication and user profile management.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>
              <a:buNone/>
            </a:pPr>
            <a:r>
              <a:rPr lang="en-US" sz="1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Key Features:</a:t>
            </a:r>
            <a:endParaRPr lang="en-IN" sz="16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0150" lvl="2" indent="-285750" algn="just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can register, log in, and update their profiles (e.g., name, profile picture, etc.).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0150" lvl="2" indent="-285750" algn="just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authentication using JWT or Django’s built-in authentication system.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0150" lvl="2" indent="-285750" algn="just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Password recovery and account management.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7914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AE086D-C326-ABCE-7168-E927AD5142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92BE023-3BFE-F5DF-4BAF-7EBCB0210C86}"/>
              </a:ext>
            </a:extLst>
          </p:cNvPr>
          <p:cNvSpPr txBox="1"/>
          <p:nvPr/>
        </p:nvSpPr>
        <p:spPr>
          <a:xfrm>
            <a:off x="5456903" y="285135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AE5754-1029-122B-9B1A-782041937F34}"/>
              </a:ext>
            </a:extLst>
          </p:cNvPr>
          <p:cNvSpPr txBox="1">
            <a:spLocks/>
          </p:cNvSpPr>
          <p:nvPr/>
        </p:nvSpPr>
        <p:spPr>
          <a:xfrm>
            <a:off x="1166811" y="158544"/>
            <a:ext cx="10491789" cy="698499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sz="3200" b="1" dirty="0">
                <a:latin typeface="Algerian" panose="04020705040A02060702" pitchFamily="82" charset="0"/>
              </a:rPr>
              <a:t> System Model ERD</a:t>
            </a:r>
            <a:endParaRPr lang="en-IN" sz="3200" b="1" dirty="0">
              <a:latin typeface="Algerian" panose="04020705040A02060702" pitchFamily="82" charset="0"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66302A46-D606-307F-3F4B-70C078AAD7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2755" y="958235"/>
            <a:ext cx="6929437" cy="533590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501190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A1E9FB-7E13-B841-9B9A-42F9FAC220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90948A4-E2FF-B527-1611-5B38F2BC2A04}"/>
              </a:ext>
            </a:extLst>
          </p:cNvPr>
          <p:cNvSpPr txBox="1"/>
          <p:nvPr/>
        </p:nvSpPr>
        <p:spPr>
          <a:xfrm>
            <a:off x="5456903" y="285135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8F4A88-6BF8-D65E-C053-FB927944FCEA}"/>
              </a:ext>
            </a:extLst>
          </p:cNvPr>
          <p:cNvSpPr txBox="1">
            <a:spLocks/>
          </p:cNvSpPr>
          <p:nvPr/>
        </p:nvSpPr>
        <p:spPr>
          <a:xfrm>
            <a:off x="1166811" y="158544"/>
            <a:ext cx="10491789" cy="698499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sz="3200" b="1" dirty="0">
                <a:latin typeface="Algerian" panose="04020705040A02060702" pitchFamily="82" charset="0"/>
              </a:rPr>
              <a:t>Data Flow Diagrams</a:t>
            </a:r>
            <a:endParaRPr lang="en-IN" sz="3200" b="1" dirty="0">
              <a:latin typeface="Algerian" panose="04020705040A02060702" pitchFamily="82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F92C62FF-8CF7-C0E7-23C5-03446B42085A}"/>
              </a:ext>
            </a:extLst>
          </p:cNvPr>
          <p:cNvSpPr txBox="1">
            <a:spLocks/>
          </p:cNvSpPr>
          <p:nvPr/>
        </p:nvSpPr>
        <p:spPr>
          <a:xfrm>
            <a:off x="-1443654" y="1038532"/>
            <a:ext cx="10491789" cy="698499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sz="1800" b="1" dirty="0">
                <a:latin typeface="Algerian" panose="04020705040A02060702" pitchFamily="82" charset="0"/>
              </a:rPr>
              <a:t>1. Context Level DFD:</a:t>
            </a:r>
            <a:endParaRPr lang="en-IN" sz="1800" b="1" dirty="0">
              <a:latin typeface="Algerian" panose="04020705040A02060702" pitchFamily="82" charset="0"/>
            </a:endParaRP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D582F5DC-01AD-D5F2-0F6D-C87898569B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47" y="2056973"/>
            <a:ext cx="10307753" cy="274405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173241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031134-A0B7-355A-3E49-7851AB9511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63E380A-AA2C-4C35-E5E3-6BF17A8178AB}"/>
              </a:ext>
            </a:extLst>
          </p:cNvPr>
          <p:cNvSpPr txBox="1"/>
          <p:nvPr/>
        </p:nvSpPr>
        <p:spPr>
          <a:xfrm>
            <a:off x="5456903" y="285135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75F672D-11FB-9ED4-C91F-06EB59CC4F58}"/>
              </a:ext>
            </a:extLst>
          </p:cNvPr>
          <p:cNvSpPr txBox="1">
            <a:spLocks/>
          </p:cNvSpPr>
          <p:nvPr/>
        </p:nvSpPr>
        <p:spPr>
          <a:xfrm>
            <a:off x="1166811" y="158544"/>
            <a:ext cx="10491789" cy="698499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endParaRPr lang="en-IN" sz="3200" b="1" dirty="0">
              <a:latin typeface="Algerian" panose="04020705040A02060702" pitchFamily="82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0E69937-39B9-12DB-03AB-591753060EF3}"/>
              </a:ext>
            </a:extLst>
          </p:cNvPr>
          <p:cNvSpPr txBox="1">
            <a:spLocks/>
          </p:cNvSpPr>
          <p:nvPr/>
        </p:nvSpPr>
        <p:spPr>
          <a:xfrm>
            <a:off x="-2050144" y="758508"/>
            <a:ext cx="10491789" cy="698499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sz="1800" b="1" dirty="0">
                <a:latin typeface="Algerian" panose="04020705040A02060702" pitchFamily="82" charset="0"/>
              </a:rPr>
              <a:t>2. First Level </a:t>
            </a:r>
            <a:r>
              <a:rPr lang="en-US" sz="1800" b="1" dirty="0" err="1">
                <a:latin typeface="Algerian" panose="04020705040A02060702" pitchFamily="82" charset="0"/>
              </a:rPr>
              <a:t>dfd</a:t>
            </a:r>
            <a:endParaRPr lang="en-IN" sz="1800" b="1" dirty="0">
              <a:latin typeface="Algerian" panose="04020705040A02060702" pitchFamily="82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7C52EB2-8071-71E7-26A1-0203422BCB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58544"/>
            <a:ext cx="2544008" cy="663414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982074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217F7B-C831-CED0-AF42-03AD581709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40152F9-4E85-FF76-3F22-8BF8E0BFB382}"/>
              </a:ext>
            </a:extLst>
          </p:cNvPr>
          <p:cNvSpPr txBox="1"/>
          <p:nvPr/>
        </p:nvSpPr>
        <p:spPr>
          <a:xfrm>
            <a:off x="5456903" y="285135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44814E7-A5E0-D5CD-04A7-DB4DB4BE00B0}"/>
              </a:ext>
            </a:extLst>
          </p:cNvPr>
          <p:cNvSpPr txBox="1">
            <a:spLocks/>
          </p:cNvSpPr>
          <p:nvPr/>
        </p:nvSpPr>
        <p:spPr>
          <a:xfrm>
            <a:off x="1166811" y="158544"/>
            <a:ext cx="10491789" cy="698499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sz="3200" b="1" dirty="0">
                <a:latin typeface="Algerian" panose="04020705040A02060702" pitchFamily="82" charset="0"/>
              </a:rPr>
              <a:t>UML Diagrams</a:t>
            </a:r>
            <a:endParaRPr lang="en-IN" sz="3200" b="1" dirty="0">
              <a:latin typeface="Algerian" panose="04020705040A02060702" pitchFamily="82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BBBCFE8-E6C3-A418-FD7A-8B7E07E08008}"/>
              </a:ext>
            </a:extLst>
          </p:cNvPr>
          <p:cNvSpPr txBox="1">
            <a:spLocks/>
          </p:cNvSpPr>
          <p:nvPr/>
        </p:nvSpPr>
        <p:spPr>
          <a:xfrm>
            <a:off x="-1512480" y="857043"/>
            <a:ext cx="10491789" cy="698499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sz="1800" b="1" dirty="0">
                <a:latin typeface="Algerian" panose="04020705040A02060702" pitchFamily="82" charset="0"/>
              </a:rPr>
              <a:t>1. Use case diagram:</a:t>
            </a:r>
            <a:endParaRPr lang="en-IN" sz="1800" b="1" dirty="0">
              <a:latin typeface="Algerian" panose="04020705040A02060702" pitchFamily="82" charset="0"/>
            </a:endParaRPr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ACAD937D-709C-8D97-7588-AA603E0F1A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6932" y="804332"/>
            <a:ext cx="4131545" cy="589512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484867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5E9022-D1C6-D736-D572-544C98742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081830D-8F32-0A6B-695E-63903AA6CDF9}"/>
              </a:ext>
            </a:extLst>
          </p:cNvPr>
          <p:cNvSpPr txBox="1"/>
          <p:nvPr/>
        </p:nvSpPr>
        <p:spPr>
          <a:xfrm>
            <a:off x="5456903" y="285135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7C43D5-6B23-71D2-8DD0-DC545B385AA2}"/>
              </a:ext>
            </a:extLst>
          </p:cNvPr>
          <p:cNvSpPr txBox="1">
            <a:spLocks/>
          </p:cNvSpPr>
          <p:nvPr/>
        </p:nvSpPr>
        <p:spPr>
          <a:xfrm>
            <a:off x="-1777951" y="630901"/>
            <a:ext cx="10491789" cy="698499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sz="1800" b="1" dirty="0">
                <a:latin typeface="Algerian" panose="04020705040A02060702" pitchFamily="82" charset="0"/>
              </a:rPr>
              <a:t>2. Class diagram:</a:t>
            </a:r>
            <a:endParaRPr lang="en-IN" sz="1800" b="1" dirty="0">
              <a:latin typeface="Algerian" panose="04020705040A02060702" pitchFamily="82" charset="0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9BA53D8A-BD53-7B13-A6A7-FB9A820DD3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5359" y="1329400"/>
            <a:ext cx="7209973" cy="426943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057672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2DD619-8EAE-6254-403A-8EDA3EB4A3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EC13773-32E6-16B0-1DD0-548E32E5AA24}"/>
              </a:ext>
            </a:extLst>
          </p:cNvPr>
          <p:cNvSpPr txBox="1"/>
          <p:nvPr/>
        </p:nvSpPr>
        <p:spPr>
          <a:xfrm>
            <a:off x="5456903" y="285135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0153F9-A804-0C0F-0B36-6CBC3D6B3AB8}"/>
              </a:ext>
            </a:extLst>
          </p:cNvPr>
          <p:cNvSpPr txBox="1">
            <a:spLocks/>
          </p:cNvSpPr>
          <p:nvPr/>
        </p:nvSpPr>
        <p:spPr>
          <a:xfrm>
            <a:off x="-1777951" y="630901"/>
            <a:ext cx="10491789" cy="698499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sz="1800" b="1" dirty="0">
                <a:latin typeface="Algerian" panose="04020705040A02060702" pitchFamily="82" charset="0"/>
              </a:rPr>
              <a:t>3. Activity diagram:</a:t>
            </a:r>
            <a:endParaRPr lang="en-IN" sz="1800" b="1" dirty="0">
              <a:latin typeface="Algerian" panose="04020705040A02060702" pitchFamily="82" charset="0"/>
            </a:endParaRPr>
          </a:p>
        </p:txBody>
      </p:sp>
      <p:pic>
        <p:nvPicPr>
          <p:cNvPr id="3078" name="Picture 6">
            <a:extLst>
              <a:ext uri="{FF2B5EF4-FFF2-40B4-BE49-F238E27FC236}">
                <a16:creationId xmlns:a16="http://schemas.microsoft.com/office/drawing/2014/main" id="{E139E7FF-64B6-F956-3326-3841C30A30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9268" y="534884"/>
            <a:ext cx="3725361" cy="632311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341801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16F58A-E9AE-76AE-3827-B56E4BE4D7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4932BDB-5955-0322-E6AA-1AD10F310411}"/>
              </a:ext>
            </a:extLst>
          </p:cNvPr>
          <p:cNvSpPr txBox="1"/>
          <p:nvPr/>
        </p:nvSpPr>
        <p:spPr>
          <a:xfrm>
            <a:off x="5456903" y="285135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4EB7501-B6B8-95BF-8BF9-5D21422365F0}"/>
              </a:ext>
            </a:extLst>
          </p:cNvPr>
          <p:cNvSpPr txBox="1">
            <a:spLocks/>
          </p:cNvSpPr>
          <p:nvPr/>
        </p:nvSpPr>
        <p:spPr>
          <a:xfrm>
            <a:off x="-1777951" y="630901"/>
            <a:ext cx="10491789" cy="698499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sz="1800" b="1" dirty="0">
                <a:latin typeface="Algerian" panose="04020705040A02060702" pitchFamily="82" charset="0"/>
              </a:rPr>
              <a:t>4. Sequence diagram:</a:t>
            </a:r>
            <a:endParaRPr lang="en-IN" sz="1800" b="1" dirty="0">
              <a:latin typeface="Algerian" panose="04020705040A02060702" pitchFamily="82" charset="0"/>
            </a:endParaRPr>
          </a:p>
        </p:txBody>
      </p:sp>
      <p:pic>
        <p:nvPicPr>
          <p:cNvPr id="1032" name="Picture 8">
            <a:extLst>
              <a:ext uri="{FF2B5EF4-FFF2-40B4-BE49-F238E27FC236}">
                <a16:creationId xmlns:a16="http://schemas.microsoft.com/office/drawing/2014/main" id="{1C4580D4-DA1F-FA5C-A3CA-67D7774EB0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7333" y="227240"/>
            <a:ext cx="4144297" cy="655276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279164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B3CC60-30E8-AF1D-5E37-65472DF54C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666DB4E3-D5E2-B948-88AE-4C718C2B62C8}"/>
              </a:ext>
            </a:extLst>
          </p:cNvPr>
          <p:cNvSpPr txBox="1">
            <a:spLocks/>
          </p:cNvSpPr>
          <p:nvPr/>
        </p:nvSpPr>
        <p:spPr>
          <a:xfrm>
            <a:off x="1417442" y="175391"/>
            <a:ext cx="10491789" cy="698499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sz="3200" dirty="0">
                <a:latin typeface="Algerian" panose="04020705040A02060702" pitchFamily="82" charset="0"/>
              </a:rPr>
              <a:t>Database Design</a:t>
            </a:r>
            <a:endParaRPr lang="en-IN" sz="3200" dirty="0">
              <a:latin typeface="Algerian" panose="04020705040A02060702" pitchFamily="8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F08A958-043A-6CFC-D669-10F2B2BC8360}"/>
              </a:ext>
            </a:extLst>
          </p:cNvPr>
          <p:cNvSpPr txBox="1"/>
          <p:nvPr/>
        </p:nvSpPr>
        <p:spPr>
          <a:xfrm>
            <a:off x="5402251" y="873890"/>
            <a:ext cx="27224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Algerian" panose="04020705040A02060702" pitchFamily="82" charset="0"/>
                <a:cs typeface="Times New Roman" panose="02020603050405020304" pitchFamily="18" charset="0"/>
              </a:rPr>
              <a:t>Student Table</a:t>
            </a:r>
            <a:endParaRPr lang="en-IN" sz="2400" dirty="0">
              <a:latin typeface="Algerian" panose="04020705040A02060702" pitchFamily="82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9AAB442-4A7D-6AC4-64C1-F3856DD00AC2}"/>
              </a:ext>
            </a:extLst>
          </p:cNvPr>
          <p:cNvSpPr txBox="1"/>
          <p:nvPr/>
        </p:nvSpPr>
        <p:spPr>
          <a:xfrm>
            <a:off x="5533036" y="3685495"/>
            <a:ext cx="2260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Algerian" panose="04020705040A02060702" pitchFamily="82" charset="0"/>
                <a:cs typeface="Times New Roman" panose="02020603050405020304" pitchFamily="18" charset="0"/>
              </a:rPr>
              <a:t>Notes Table</a:t>
            </a:r>
            <a:endParaRPr lang="en-IN" sz="2400" dirty="0">
              <a:latin typeface="Algerian" panose="04020705040A02060702" pitchFamily="82" charset="0"/>
              <a:cs typeface="Times New Roman" panose="02020603050405020304" pitchFamily="18" charset="0"/>
            </a:endParaRP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C67A8F38-7338-AB28-CF06-77FCCF3A13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8752601"/>
              </p:ext>
            </p:extLst>
          </p:nvPr>
        </p:nvGraphicFramePr>
        <p:xfrm>
          <a:off x="3571240" y="1472345"/>
          <a:ext cx="6475095" cy="204304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94765">
                  <a:extLst>
                    <a:ext uri="{9D8B030D-6E8A-4147-A177-3AD203B41FA5}">
                      <a16:colId xmlns:a16="http://schemas.microsoft.com/office/drawing/2014/main" val="2124588603"/>
                    </a:ext>
                  </a:extLst>
                </a:gridCol>
                <a:gridCol w="1294765">
                  <a:extLst>
                    <a:ext uri="{9D8B030D-6E8A-4147-A177-3AD203B41FA5}">
                      <a16:colId xmlns:a16="http://schemas.microsoft.com/office/drawing/2014/main" val="1386231055"/>
                    </a:ext>
                  </a:extLst>
                </a:gridCol>
                <a:gridCol w="1294765">
                  <a:extLst>
                    <a:ext uri="{9D8B030D-6E8A-4147-A177-3AD203B41FA5}">
                      <a16:colId xmlns:a16="http://schemas.microsoft.com/office/drawing/2014/main" val="2267431222"/>
                    </a:ext>
                  </a:extLst>
                </a:gridCol>
                <a:gridCol w="1294765">
                  <a:extLst>
                    <a:ext uri="{9D8B030D-6E8A-4147-A177-3AD203B41FA5}">
                      <a16:colId xmlns:a16="http://schemas.microsoft.com/office/drawing/2014/main" val="3852540293"/>
                    </a:ext>
                  </a:extLst>
                </a:gridCol>
                <a:gridCol w="1296035">
                  <a:extLst>
                    <a:ext uri="{9D8B030D-6E8A-4147-A177-3AD203B41FA5}">
                      <a16:colId xmlns:a16="http://schemas.microsoft.com/office/drawing/2014/main" val="2884725881"/>
                    </a:ext>
                  </a:extLst>
                </a:gridCol>
              </a:tblGrid>
              <a:tr h="37592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3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Attribute</a:t>
                      </a:r>
                      <a:endParaRPr lang="en-US" sz="13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3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DataType</a:t>
                      </a:r>
                      <a:endParaRPr lang="en-US" sz="13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3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Size</a:t>
                      </a:r>
                      <a:endParaRPr lang="en-US" sz="13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3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Constraints</a:t>
                      </a:r>
                      <a:endParaRPr lang="en-US" sz="13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3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  <a:endParaRPr lang="en-US" sz="13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43327732"/>
                  </a:ext>
                </a:extLst>
              </a:tr>
              <a:tr h="35496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en-US" sz="13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uid</a:t>
                      </a:r>
                      <a:endParaRPr lang="en-US" sz="13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Integer </a:t>
                      </a:r>
                      <a:endParaRPr lang="en-US" sz="13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11 </a:t>
                      </a:r>
                      <a:endParaRPr lang="en-US" sz="13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Primary Key </a:t>
                      </a:r>
                      <a:endParaRPr lang="en-US" sz="13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Student Id </a:t>
                      </a:r>
                      <a:endParaRPr lang="en-US" sz="13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71791352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name</a:t>
                      </a:r>
                      <a:endParaRPr lang="en-US" sz="13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Varchar </a:t>
                      </a:r>
                      <a:endParaRPr lang="en-US" sz="13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30 </a:t>
                      </a:r>
                      <a:endParaRPr lang="en-US" sz="13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 </a:t>
                      </a:r>
                      <a:endParaRPr lang="en-US" sz="13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Name of Student </a:t>
                      </a:r>
                      <a:endParaRPr lang="en-US" sz="13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20622252"/>
                  </a:ext>
                </a:extLst>
              </a:tr>
              <a:tr h="35496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email</a:t>
                      </a:r>
                      <a:endParaRPr lang="en-US" sz="13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Varchar </a:t>
                      </a:r>
                      <a:endParaRPr lang="en-US" sz="13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30 </a:t>
                      </a:r>
                      <a:endParaRPr lang="en-US" sz="13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 </a:t>
                      </a:r>
                      <a:endParaRPr lang="en-US" sz="13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Email of Student </a:t>
                      </a:r>
                      <a:endParaRPr lang="en-US" sz="13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227480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password</a:t>
                      </a:r>
                      <a:endParaRPr lang="en-US" sz="13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Varchar</a:t>
                      </a:r>
                      <a:endParaRPr lang="en-US" sz="13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10</a:t>
                      </a:r>
                      <a:endParaRPr lang="en-US" sz="13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-</a:t>
                      </a:r>
                      <a:endParaRPr lang="en-US" sz="13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Password of Student</a:t>
                      </a:r>
                      <a:endParaRPr lang="en-US" sz="13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27051302"/>
                  </a:ext>
                </a:extLst>
              </a:tr>
            </a:tbl>
          </a:graphicData>
        </a:graphic>
      </p:graphicFrame>
      <p:sp>
        <p:nvSpPr>
          <p:cNvPr id="14" name="Rectangle 1">
            <a:extLst>
              <a:ext uri="{FF2B5EF4-FFF2-40B4-BE49-F238E27FC236}">
                <a16:creationId xmlns:a16="http://schemas.microsoft.com/office/drawing/2014/main" id="{466BF1A0-C8FB-7BA2-C86F-3404E7B930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71875" y="1472028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A4BB9396-8D62-90BF-4486-E13AB53662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71875" y="4279168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E9484468-14D6-5B2D-9AC2-1BFB41A859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6467298"/>
              </p:ext>
            </p:extLst>
          </p:nvPr>
        </p:nvGraphicFramePr>
        <p:xfrm>
          <a:off x="3571239" y="4396766"/>
          <a:ext cx="6475095" cy="192011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94765">
                  <a:extLst>
                    <a:ext uri="{9D8B030D-6E8A-4147-A177-3AD203B41FA5}">
                      <a16:colId xmlns:a16="http://schemas.microsoft.com/office/drawing/2014/main" val="2124588603"/>
                    </a:ext>
                  </a:extLst>
                </a:gridCol>
                <a:gridCol w="1294765">
                  <a:extLst>
                    <a:ext uri="{9D8B030D-6E8A-4147-A177-3AD203B41FA5}">
                      <a16:colId xmlns:a16="http://schemas.microsoft.com/office/drawing/2014/main" val="1386231055"/>
                    </a:ext>
                  </a:extLst>
                </a:gridCol>
                <a:gridCol w="1294765">
                  <a:extLst>
                    <a:ext uri="{9D8B030D-6E8A-4147-A177-3AD203B41FA5}">
                      <a16:colId xmlns:a16="http://schemas.microsoft.com/office/drawing/2014/main" val="2267431222"/>
                    </a:ext>
                  </a:extLst>
                </a:gridCol>
                <a:gridCol w="1294765">
                  <a:extLst>
                    <a:ext uri="{9D8B030D-6E8A-4147-A177-3AD203B41FA5}">
                      <a16:colId xmlns:a16="http://schemas.microsoft.com/office/drawing/2014/main" val="3852540293"/>
                    </a:ext>
                  </a:extLst>
                </a:gridCol>
                <a:gridCol w="1296035">
                  <a:extLst>
                    <a:ext uri="{9D8B030D-6E8A-4147-A177-3AD203B41FA5}">
                      <a16:colId xmlns:a16="http://schemas.microsoft.com/office/drawing/2014/main" val="2884725881"/>
                    </a:ext>
                  </a:extLst>
                </a:gridCol>
              </a:tblGrid>
              <a:tr h="37592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3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Attribute</a:t>
                      </a:r>
                      <a:endParaRPr lang="en-US" sz="13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3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DataType</a:t>
                      </a:r>
                      <a:endParaRPr lang="en-US" sz="13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Size</a:t>
                      </a:r>
                      <a:endParaRPr lang="en-US" sz="13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3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Constraints</a:t>
                      </a:r>
                      <a:endParaRPr lang="en-US" sz="13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3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  <a:endParaRPr lang="en-US" sz="13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43327732"/>
                  </a:ext>
                </a:extLst>
              </a:tr>
              <a:tr h="35496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id</a:t>
                      </a:r>
                      <a:endParaRPr lang="en-US" sz="13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Integer </a:t>
                      </a:r>
                      <a:endParaRPr lang="en-US" sz="13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11 </a:t>
                      </a:r>
                      <a:endParaRPr lang="en-US" sz="13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Primary Key </a:t>
                      </a:r>
                      <a:endParaRPr lang="en-US" sz="13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 of Notes</a:t>
                      </a:r>
                      <a:endParaRPr lang="en-US" sz="13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71791352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title</a:t>
                      </a:r>
                      <a:endParaRPr lang="en-US" sz="13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Varchar </a:t>
                      </a:r>
                      <a:endParaRPr lang="en-US" sz="13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30 </a:t>
                      </a:r>
                      <a:endParaRPr lang="en-US" sz="13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 </a:t>
                      </a:r>
                      <a:endParaRPr lang="en-US" sz="13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 of Notes </a:t>
                      </a:r>
                      <a:endParaRPr lang="en-US" sz="13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20622252"/>
                  </a:ext>
                </a:extLst>
              </a:tr>
              <a:tr h="35496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description</a:t>
                      </a:r>
                      <a:endParaRPr lang="en-US" sz="13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Varchar </a:t>
                      </a:r>
                      <a:endParaRPr lang="en-US" sz="13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200 </a:t>
                      </a:r>
                      <a:endParaRPr lang="en-US" sz="13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 </a:t>
                      </a:r>
                      <a:endParaRPr lang="en-US" sz="13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Content of Notes </a:t>
                      </a:r>
                      <a:endParaRPr lang="en-US" sz="13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227480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en-US" sz="13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uid</a:t>
                      </a:r>
                      <a:endParaRPr lang="en-US" sz="13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Varchar</a:t>
                      </a:r>
                      <a:endParaRPr lang="en-US" sz="13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11</a:t>
                      </a:r>
                      <a:endParaRPr lang="en-US" sz="13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Foreign Key</a:t>
                      </a:r>
                      <a:endParaRPr lang="en-US" sz="13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Student Id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270513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633437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C8655-1B50-4A6F-9C4D-442856B9D3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C47857-ED4A-2525-41BC-CEB5EF2AACE5}"/>
              </a:ext>
            </a:extLst>
          </p:cNvPr>
          <p:cNvSpPr txBox="1">
            <a:spLocks/>
          </p:cNvSpPr>
          <p:nvPr/>
        </p:nvSpPr>
        <p:spPr>
          <a:xfrm>
            <a:off x="1417442" y="175391"/>
            <a:ext cx="10491789" cy="698499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endParaRPr lang="en-IN" sz="3200" dirty="0">
              <a:latin typeface="Algerian" panose="04020705040A02060702" pitchFamily="8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484B29A-A20F-3AAD-F069-2D03201ACA9B}"/>
              </a:ext>
            </a:extLst>
          </p:cNvPr>
          <p:cNvSpPr txBox="1"/>
          <p:nvPr/>
        </p:nvSpPr>
        <p:spPr>
          <a:xfrm>
            <a:off x="5101033" y="341481"/>
            <a:ext cx="30603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Algerian" panose="04020705040A02060702" pitchFamily="82" charset="0"/>
                <a:cs typeface="Times New Roman" panose="02020603050405020304" pitchFamily="18" charset="0"/>
              </a:rPr>
              <a:t>Homework Table</a:t>
            </a:r>
            <a:endParaRPr lang="en-IN" sz="2400" dirty="0">
              <a:latin typeface="Algerian" panose="04020705040A02060702" pitchFamily="82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3E7B026-F534-2ABC-1454-617D2590478E}"/>
              </a:ext>
            </a:extLst>
          </p:cNvPr>
          <p:cNvSpPr txBox="1"/>
          <p:nvPr/>
        </p:nvSpPr>
        <p:spPr>
          <a:xfrm>
            <a:off x="5533035" y="3817503"/>
            <a:ext cx="2260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Algerian" panose="04020705040A02060702" pitchFamily="82" charset="0"/>
                <a:cs typeface="Times New Roman" panose="02020603050405020304" pitchFamily="18" charset="0"/>
              </a:rPr>
              <a:t>To-Do Table</a:t>
            </a:r>
            <a:endParaRPr lang="en-IN" sz="2400" dirty="0">
              <a:latin typeface="Algerian" panose="04020705040A02060702" pitchFamily="82" charset="0"/>
              <a:cs typeface="Times New Roman" panose="02020603050405020304" pitchFamily="18" charset="0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EC9ECCA3-BD9C-9854-9764-D20581AE48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71875" y="1472028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D8BDD793-C41E-A5FF-D846-24C8CEA254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71875" y="4279168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DCC34A2C-E941-5688-A4FE-4641D02173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2455948"/>
              </p:ext>
            </p:extLst>
          </p:nvPr>
        </p:nvGraphicFramePr>
        <p:xfrm>
          <a:off x="3393683" y="4401871"/>
          <a:ext cx="6475095" cy="192011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94765">
                  <a:extLst>
                    <a:ext uri="{9D8B030D-6E8A-4147-A177-3AD203B41FA5}">
                      <a16:colId xmlns:a16="http://schemas.microsoft.com/office/drawing/2014/main" val="2124588603"/>
                    </a:ext>
                  </a:extLst>
                </a:gridCol>
                <a:gridCol w="1294765">
                  <a:extLst>
                    <a:ext uri="{9D8B030D-6E8A-4147-A177-3AD203B41FA5}">
                      <a16:colId xmlns:a16="http://schemas.microsoft.com/office/drawing/2014/main" val="1386231055"/>
                    </a:ext>
                  </a:extLst>
                </a:gridCol>
                <a:gridCol w="1294765">
                  <a:extLst>
                    <a:ext uri="{9D8B030D-6E8A-4147-A177-3AD203B41FA5}">
                      <a16:colId xmlns:a16="http://schemas.microsoft.com/office/drawing/2014/main" val="2267431222"/>
                    </a:ext>
                  </a:extLst>
                </a:gridCol>
                <a:gridCol w="1294765">
                  <a:extLst>
                    <a:ext uri="{9D8B030D-6E8A-4147-A177-3AD203B41FA5}">
                      <a16:colId xmlns:a16="http://schemas.microsoft.com/office/drawing/2014/main" val="3852540293"/>
                    </a:ext>
                  </a:extLst>
                </a:gridCol>
                <a:gridCol w="1296035">
                  <a:extLst>
                    <a:ext uri="{9D8B030D-6E8A-4147-A177-3AD203B41FA5}">
                      <a16:colId xmlns:a16="http://schemas.microsoft.com/office/drawing/2014/main" val="2884725881"/>
                    </a:ext>
                  </a:extLst>
                </a:gridCol>
              </a:tblGrid>
              <a:tr h="37592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3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Attribute</a:t>
                      </a:r>
                      <a:endParaRPr lang="en-US" sz="13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3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DataType</a:t>
                      </a:r>
                      <a:endParaRPr lang="en-US" sz="13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Size</a:t>
                      </a:r>
                      <a:endParaRPr lang="en-US" sz="13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3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Constraints</a:t>
                      </a:r>
                      <a:endParaRPr lang="en-US" sz="13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3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  <a:endParaRPr lang="en-US" sz="13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43327732"/>
                  </a:ext>
                </a:extLst>
              </a:tr>
              <a:tr h="35496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id</a:t>
                      </a:r>
                      <a:endParaRPr lang="en-US" sz="13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Integer </a:t>
                      </a:r>
                      <a:endParaRPr lang="en-US" sz="13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11 </a:t>
                      </a:r>
                      <a:endParaRPr lang="en-US" sz="13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Primary Key </a:t>
                      </a:r>
                      <a:endParaRPr lang="en-US" sz="13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 of To-Do</a:t>
                      </a:r>
                      <a:endParaRPr lang="en-US" sz="13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71791352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title</a:t>
                      </a:r>
                      <a:endParaRPr lang="en-US" sz="13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Varchar </a:t>
                      </a:r>
                      <a:endParaRPr lang="en-US" sz="13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30 </a:t>
                      </a:r>
                      <a:endParaRPr lang="en-US" sz="13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 </a:t>
                      </a:r>
                      <a:endParaRPr lang="en-US" sz="13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 of To-Do </a:t>
                      </a:r>
                      <a:endParaRPr lang="en-US" sz="13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20622252"/>
                  </a:ext>
                </a:extLst>
              </a:tr>
              <a:tr h="35496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description</a:t>
                      </a:r>
                      <a:endParaRPr lang="en-US" sz="13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Varchar </a:t>
                      </a:r>
                      <a:endParaRPr lang="en-US" sz="13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2000 </a:t>
                      </a:r>
                      <a:endParaRPr lang="en-US" sz="13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 </a:t>
                      </a:r>
                      <a:endParaRPr lang="en-US" sz="13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Content of To-Do </a:t>
                      </a:r>
                      <a:endParaRPr lang="en-US" sz="13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227480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en-US" sz="13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uid</a:t>
                      </a:r>
                      <a:endParaRPr lang="en-US" sz="13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Varchar</a:t>
                      </a:r>
                      <a:endParaRPr lang="en-US" sz="13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11</a:t>
                      </a:r>
                      <a:endParaRPr lang="en-US" sz="13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Foreign Key</a:t>
                      </a:r>
                      <a:endParaRPr lang="en-US" sz="13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Student Id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27051302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2556202F-C024-4F93-8A3E-0D065C5B44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2947410"/>
              </p:ext>
            </p:extLst>
          </p:nvPr>
        </p:nvGraphicFramePr>
        <p:xfrm>
          <a:off x="3393683" y="899911"/>
          <a:ext cx="6475095" cy="279488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94765">
                  <a:extLst>
                    <a:ext uri="{9D8B030D-6E8A-4147-A177-3AD203B41FA5}">
                      <a16:colId xmlns:a16="http://schemas.microsoft.com/office/drawing/2014/main" val="2157917889"/>
                    </a:ext>
                  </a:extLst>
                </a:gridCol>
                <a:gridCol w="1294765">
                  <a:extLst>
                    <a:ext uri="{9D8B030D-6E8A-4147-A177-3AD203B41FA5}">
                      <a16:colId xmlns:a16="http://schemas.microsoft.com/office/drawing/2014/main" val="4077800781"/>
                    </a:ext>
                  </a:extLst>
                </a:gridCol>
                <a:gridCol w="1294765">
                  <a:extLst>
                    <a:ext uri="{9D8B030D-6E8A-4147-A177-3AD203B41FA5}">
                      <a16:colId xmlns:a16="http://schemas.microsoft.com/office/drawing/2014/main" val="4263989143"/>
                    </a:ext>
                  </a:extLst>
                </a:gridCol>
                <a:gridCol w="1294765">
                  <a:extLst>
                    <a:ext uri="{9D8B030D-6E8A-4147-A177-3AD203B41FA5}">
                      <a16:colId xmlns:a16="http://schemas.microsoft.com/office/drawing/2014/main" val="1663734870"/>
                    </a:ext>
                  </a:extLst>
                </a:gridCol>
                <a:gridCol w="1296035">
                  <a:extLst>
                    <a:ext uri="{9D8B030D-6E8A-4147-A177-3AD203B41FA5}">
                      <a16:colId xmlns:a16="http://schemas.microsoft.com/office/drawing/2014/main" val="4180404415"/>
                    </a:ext>
                  </a:extLst>
                </a:gridCol>
              </a:tblGrid>
              <a:tr h="37592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3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Attribute</a:t>
                      </a:r>
                      <a:endParaRPr lang="en-US" sz="13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3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DataType</a:t>
                      </a:r>
                      <a:endParaRPr lang="en-US" sz="13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Size</a:t>
                      </a:r>
                      <a:endParaRPr lang="en-US" sz="13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3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Constraints</a:t>
                      </a:r>
                      <a:endParaRPr lang="en-US" sz="13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3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  <a:endParaRPr lang="en-US" sz="13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74316684"/>
                  </a:ext>
                </a:extLst>
              </a:tr>
              <a:tr h="35496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id</a:t>
                      </a:r>
                      <a:endParaRPr lang="en-US" sz="13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Integer</a:t>
                      </a:r>
                      <a:endParaRPr lang="en-US" sz="13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11</a:t>
                      </a:r>
                      <a:endParaRPr lang="en-US" sz="13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Primary Key </a:t>
                      </a:r>
                      <a:endParaRPr lang="en-US" sz="13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 of Homework </a:t>
                      </a:r>
                      <a:endParaRPr lang="en-US" sz="13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87168172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subject</a:t>
                      </a:r>
                      <a:endParaRPr lang="en-US" sz="13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Varchar</a:t>
                      </a:r>
                      <a:endParaRPr lang="en-US" sz="13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30 </a:t>
                      </a:r>
                      <a:endParaRPr lang="en-US" sz="13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-</a:t>
                      </a:r>
                      <a:endParaRPr lang="en-US" sz="13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Title of Subject</a:t>
                      </a:r>
                      <a:endParaRPr lang="en-US" sz="13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48394950"/>
                  </a:ext>
                </a:extLst>
              </a:tr>
              <a:tr h="35496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title</a:t>
                      </a:r>
                      <a:endParaRPr lang="en-US" sz="13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Varchar</a:t>
                      </a:r>
                      <a:endParaRPr lang="en-US" sz="13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30</a:t>
                      </a:r>
                      <a:endParaRPr lang="en-US" sz="13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- </a:t>
                      </a:r>
                      <a:endParaRPr lang="en-US" sz="13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Title of Homework</a:t>
                      </a:r>
                      <a:endParaRPr lang="en-US" sz="13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79629240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en-US" sz="13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descripton</a:t>
                      </a:r>
                      <a:endParaRPr lang="en-US" sz="13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Varchar</a:t>
                      </a:r>
                      <a:endParaRPr lang="en-US" sz="13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2000</a:t>
                      </a:r>
                      <a:endParaRPr lang="en-US" sz="13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-</a:t>
                      </a:r>
                      <a:endParaRPr lang="en-US" sz="13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 of Homework </a:t>
                      </a:r>
                      <a:endParaRPr lang="en-US" sz="13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95670270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due date</a:t>
                      </a:r>
                      <a:endParaRPr lang="en-US" sz="13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Date</a:t>
                      </a:r>
                      <a:endParaRPr lang="en-US" sz="13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-</a:t>
                      </a:r>
                      <a:endParaRPr lang="en-US" sz="13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-</a:t>
                      </a:r>
                      <a:endParaRPr lang="en-US" sz="13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Due Date of Homework</a:t>
                      </a:r>
                      <a:endParaRPr lang="en-US" sz="13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25163108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en-US" sz="13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uid</a:t>
                      </a:r>
                      <a:endParaRPr lang="en-US" sz="13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Integer</a:t>
                      </a:r>
                      <a:endParaRPr lang="en-US" sz="13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11</a:t>
                      </a:r>
                      <a:endParaRPr lang="en-US" sz="13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Foreign Key</a:t>
                      </a:r>
                      <a:endParaRPr lang="en-US" sz="13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Student Id</a:t>
                      </a:r>
                      <a:endParaRPr lang="en-US" sz="13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80742804"/>
                  </a:ext>
                </a:extLst>
              </a:tr>
            </a:tbl>
          </a:graphicData>
        </a:graphic>
      </p:graphicFrame>
      <p:sp>
        <p:nvSpPr>
          <p:cNvPr id="14" name="Rectangle 2">
            <a:extLst>
              <a:ext uri="{FF2B5EF4-FFF2-40B4-BE49-F238E27FC236}">
                <a16:creationId xmlns:a16="http://schemas.microsoft.com/office/drawing/2014/main" id="{7A80AC7B-0D64-7F9E-D96F-987940839F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4240" y="109533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25287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81328EC-40BE-18EA-44A5-3EFB201127D0}"/>
              </a:ext>
            </a:extLst>
          </p:cNvPr>
          <p:cNvSpPr txBox="1"/>
          <p:nvPr/>
        </p:nvSpPr>
        <p:spPr>
          <a:xfrm>
            <a:off x="5182282" y="265471"/>
            <a:ext cx="24384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>
                <a:latin typeface="Algerian" panose="04020705040A02060702" pitchFamily="82" charset="0"/>
              </a:rPr>
              <a:t>prototype</a:t>
            </a:r>
            <a:endParaRPr lang="en-US" sz="32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20E971C-D0BD-FAB5-E224-6A57001C6B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9154" y="1106127"/>
            <a:ext cx="9719388" cy="5486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00969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059F3C-0C2B-E85C-B041-A61A1B600A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4CFD7FF-4145-A658-8C87-CD14006BD872}"/>
              </a:ext>
            </a:extLst>
          </p:cNvPr>
          <p:cNvSpPr txBox="1"/>
          <p:nvPr/>
        </p:nvSpPr>
        <p:spPr>
          <a:xfrm>
            <a:off x="3723538" y="2682078"/>
            <a:ext cx="608211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000" b="1" dirty="0">
                <a:latin typeface="Algerian" panose="04020705040A02060702" pitchFamily="82" charset="0"/>
              </a:rPr>
              <a:t>Thank You…………………..</a:t>
            </a:r>
            <a:endParaRPr lang="en-US" sz="40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C12D46-BA65-C964-B303-7FE796455F61}"/>
              </a:ext>
            </a:extLst>
          </p:cNvPr>
          <p:cNvSpPr txBox="1"/>
          <p:nvPr/>
        </p:nvSpPr>
        <p:spPr>
          <a:xfrm>
            <a:off x="5456903" y="285135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547911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900</TotalTime>
  <Words>1823</Words>
  <Application>Microsoft Office PowerPoint</Application>
  <PresentationFormat>Widescreen</PresentationFormat>
  <Paragraphs>296</Paragraphs>
  <Slides>24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2" baseType="lpstr">
      <vt:lpstr>Algerian</vt:lpstr>
      <vt:lpstr>Arial</vt:lpstr>
      <vt:lpstr>Calibri</vt:lpstr>
      <vt:lpstr>Century Gothic</vt:lpstr>
      <vt:lpstr>Times New Roman</vt:lpstr>
      <vt:lpstr>Wingdings</vt:lpstr>
      <vt:lpstr>Wingdings 3</vt:lpstr>
      <vt:lpstr>Wisp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Deep Ghinaiya</dc:creator>
  <cp:lastModifiedBy>Deep Ghinaiya</cp:lastModifiedBy>
  <cp:revision>62</cp:revision>
  <dcterms:created xsi:type="dcterms:W3CDTF">2025-10-08T15:16:23Z</dcterms:created>
  <dcterms:modified xsi:type="dcterms:W3CDTF">2025-12-17T06:41:18Z</dcterms:modified>
</cp:coreProperties>
</file>